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886a42dc474fa8" /><Relationship Type="http://schemas.openxmlformats.org/officeDocument/2006/relationships/extended-properties" Target="/docProps/app.xml" Id="R43d949bd9ae54655" /><Relationship Type="http://schemas.openxmlformats.org/officeDocument/2006/relationships/officeDocument" Target="/ppt/presentation.xml" Id="R0ef16c1dba7142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98571eecbf41b3"/>
  </p:sldMasterIdLst>
  <p:notesMasterIdLst>
    <p:notesMasterId xmlns:r="http://schemas.openxmlformats.org/officeDocument/2006/relationships" r:id="Rfe5bf45ccc844df9"/>
  </p:notesMasterIdLst>
  <p:sldIdLst>
    <p:sldId xmlns:r="http://schemas.openxmlformats.org/officeDocument/2006/relationships" id="256" r:id="Rd739b0a3d6a74e59"/>
    <p:sldId xmlns:r="http://schemas.openxmlformats.org/officeDocument/2006/relationships" id="257" r:id="R4f3d59efc06c4555"/>
    <p:sldId xmlns:r="http://schemas.openxmlformats.org/officeDocument/2006/relationships" id="258" r:id="R40460ceddaf44f03"/>
    <p:sldId xmlns:r="http://schemas.openxmlformats.org/officeDocument/2006/relationships" id="259" r:id="R89e5cefd27cb4ef6"/>
    <p:sldId xmlns:r="http://schemas.openxmlformats.org/officeDocument/2006/relationships" id="260" r:id="Rc0c7860e63254542"/>
    <p:sldId xmlns:r="http://schemas.openxmlformats.org/officeDocument/2006/relationships" id="261" r:id="R732e18f9571f4bae"/>
    <p:sldId xmlns:r="http://schemas.openxmlformats.org/officeDocument/2006/relationships" id="262" r:id="R68686783ff2c4955"/>
    <p:sldId xmlns:r="http://schemas.openxmlformats.org/officeDocument/2006/relationships" id="263" r:id="R4ac0c15815ac482a"/>
    <p:sldId xmlns:r="http://schemas.openxmlformats.org/officeDocument/2006/relationships" id="264" r:id="R9638c6f3425c460c"/>
    <p:sldId xmlns:r="http://schemas.openxmlformats.org/officeDocument/2006/relationships" id="265" r:id="Rde6d2344efc34010"/>
    <p:sldId xmlns:r="http://schemas.openxmlformats.org/officeDocument/2006/relationships" id="266" r:id="Rba367982a8a9470b"/>
    <p:sldId xmlns:r="http://schemas.openxmlformats.org/officeDocument/2006/relationships" id="267" r:id="Rb4025df1edcd4fc3"/>
    <p:sldId xmlns:r="http://schemas.openxmlformats.org/officeDocument/2006/relationships" id="268" r:id="R5b29c43e2e344cfd"/>
    <p:sldId xmlns:r="http://schemas.openxmlformats.org/officeDocument/2006/relationships" id="269" r:id="R4723ffaea501441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98571eecbf41b3" /><Relationship Type="http://schemas.openxmlformats.org/officeDocument/2006/relationships/theme" Target="/ppt/theme/theme1.xml" Id="R396510791bbc4c8b" /><Relationship Type="http://schemas.openxmlformats.org/officeDocument/2006/relationships/notesMaster" Target="/ppt/notesMasters/notesMaster1.xml" Id="Rfe5bf45ccc844df9" /><Relationship Type="http://schemas.openxmlformats.org/officeDocument/2006/relationships/presProps" Target="/ppt/presProps.xml" Id="Ra3851d3caf0443d9" /><Relationship Type="http://schemas.openxmlformats.org/officeDocument/2006/relationships/viewProps" Target="/ppt/viewProps.xml" Id="R89c5dc060cca41ce" /><Relationship Type="http://schemas.openxmlformats.org/officeDocument/2006/relationships/tableStyles" Target="/ppt/tableStyles.xml" Id="Rbf75fea9ffc14592" /><Relationship Type="http://schemas.openxmlformats.org/officeDocument/2006/relationships/slide" Target="/ppt/slides/slide1.xml" Id="Rd739b0a3d6a74e59" /><Relationship Type="http://schemas.openxmlformats.org/officeDocument/2006/relationships/slide" Target="/ppt/slides/slide2.xml" Id="R4f3d59efc06c4555" /><Relationship Type="http://schemas.openxmlformats.org/officeDocument/2006/relationships/slide" Target="/ppt/slides/slide3.xml" Id="R40460ceddaf44f03" /><Relationship Type="http://schemas.openxmlformats.org/officeDocument/2006/relationships/slide" Target="/ppt/slides/slide4.xml" Id="R89e5cefd27cb4ef6" /><Relationship Type="http://schemas.openxmlformats.org/officeDocument/2006/relationships/slide" Target="/ppt/slides/slide5.xml" Id="Rc0c7860e63254542" /><Relationship Type="http://schemas.openxmlformats.org/officeDocument/2006/relationships/slide" Target="/ppt/slides/slide6.xml" Id="R732e18f9571f4bae" /><Relationship Type="http://schemas.openxmlformats.org/officeDocument/2006/relationships/slide" Target="/ppt/slides/slide7.xml" Id="R68686783ff2c4955" /><Relationship Type="http://schemas.openxmlformats.org/officeDocument/2006/relationships/slide" Target="/ppt/slides/slide8.xml" Id="R4ac0c15815ac482a" /><Relationship Type="http://schemas.openxmlformats.org/officeDocument/2006/relationships/slide" Target="/ppt/slides/slide9.xml" Id="R9638c6f3425c460c" /><Relationship Type="http://schemas.openxmlformats.org/officeDocument/2006/relationships/slide" Target="/ppt/slides/slide10.xml" Id="Rde6d2344efc34010" /><Relationship Type="http://schemas.openxmlformats.org/officeDocument/2006/relationships/slide" Target="/ppt/slides/slide11.xml" Id="Rba367982a8a9470b" /><Relationship Type="http://schemas.openxmlformats.org/officeDocument/2006/relationships/slide" Target="/ppt/slides/slide12.xml" Id="Rb4025df1edcd4fc3" /><Relationship Type="http://schemas.openxmlformats.org/officeDocument/2006/relationships/slide" Target="/ppt/slides/slide13.xml" Id="R5b29c43e2e344cfd" /><Relationship Type="http://schemas.openxmlformats.org/officeDocument/2006/relationships/slide" Target="/ppt/slides/slide14.xml" Id="R4723ffaea50144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cb622ef63b84d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14fa5c45eb47a3" /><Relationship Type="http://schemas.openxmlformats.org/officeDocument/2006/relationships/notesMaster" Target="/ppt/notesMasters/notesMaster1.xml" Id="Ra6fe94ecf4ca4b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ee5f60929e4ab7" /><Relationship Type="http://schemas.openxmlformats.org/officeDocument/2006/relationships/notesMaster" Target="/ppt/notesMasters/notesMaster1.xml" Id="R46b6b51e1c594e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4fd3696dcd47d4" /><Relationship Type="http://schemas.openxmlformats.org/officeDocument/2006/relationships/notesMaster" Target="/ppt/notesMasters/notesMaster1.xml" Id="R99bf077c186846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e58fcf85a24a4f" /><Relationship Type="http://schemas.openxmlformats.org/officeDocument/2006/relationships/notesMaster" Target="/ppt/notesMasters/notesMaster1.xml" Id="R0697ad0c84b646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4d14d968c44efe" /><Relationship Type="http://schemas.openxmlformats.org/officeDocument/2006/relationships/notesMaster" Target="/ppt/notesMasters/notesMaster1.xml" Id="R2c930e9fa1794b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57455e88e1444d" /><Relationship Type="http://schemas.openxmlformats.org/officeDocument/2006/relationships/notesMaster" Target="/ppt/notesMasters/notesMaster1.xml" Id="R94e6e1d1bbe249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6aee53f4ec4ff5" /><Relationship Type="http://schemas.openxmlformats.org/officeDocument/2006/relationships/notesMaster" Target="/ppt/notesMasters/notesMaster1.xml" Id="R57ca818a5dce49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3c51528044442a" /><Relationship Type="http://schemas.openxmlformats.org/officeDocument/2006/relationships/notesMaster" Target="/ppt/notesMasters/notesMaster1.xml" Id="R333fcf11328247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66c15f7a774286" /><Relationship Type="http://schemas.openxmlformats.org/officeDocument/2006/relationships/notesMaster" Target="/ppt/notesMasters/notesMaster1.xml" Id="Rfe3c9617e55545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e09396d4184a6d" /><Relationship Type="http://schemas.openxmlformats.org/officeDocument/2006/relationships/notesMaster" Target="/ppt/notesMasters/notesMaster1.xml" Id="Rb66525a0da034ac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f6a87dc48f4f14" /><Relationship Type="http://schemas.openxmlformats.org/officeDocument/2006/relationships/notesMaster" Target="/ppt/notesMasters/notesMaster1.xml" Id="R0d4d7e29907541f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af615f253114b71" /><Relationship Type="http://schemas.openxmlformats.org/officeDocument/2006/relationships/notesMaster" Target="/ppt/notesMasters/notesMaster1.xml" Id="Rc7f1f50f3781483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5f770aaf850495f" /><Relationship Type="http://schemas.openxmlformats.org/officeDocument/2006/relationships/notesMaster" Target="/ppt/notesMasters/notesMaster1.xml" Id="R9d7ba0de0042439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74d84fdfbec442e" /><Relationship Type="http://schemas.openxmlformats.org/officeDocument/2006/relationships/notesMaster" Target="/ppt/notesMasters/notesMaster1.xml" Id="R74e0fe7e3eef4a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3f8d6103d644b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2f6a7e79e27437a" /><Relationship Type="http://schemas.openxmlformats.org/officeDocument/2006/relationships/slideLayout" Target="/ppt/slideLayouts/slideLayout2.xml" Id="R9e4104b9cc484e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4104b9cc484e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27d78ba49c42b7" /><Relationship Type="http://schemas.openxmlformats.org/officeDocument/2006/relationships/image" Target="/ppt/media/image.png" Id="R1213c09ba3cc4386" /><Relationship Type="http://schemas.openxmlformats.org/officeDocument/2006/relationships/notesSlide" Target="/ppt/notesSlides/notesSlide1.xml" Id="R8ba248967a214d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f1d0ccd78346d7" /><Relationship Type="http://schemas.openxmlformats.org/officeDocument/2006/relationships/image" Target="/ppt/media/image2.png" Id="Rb8277ecaa6dd4ba7" /><Relationship Type="http://schemas.openxmlformats.org/officeDocument/2006/relationships/image" Target="/ppt/media/image3.png" Id="R99f3ca2bce1d46c2" /><Relationship Type="http://schemas.openxmlformats.org/officeDocument/2006/relationships/notesSlide" Target="/ppt/notesSlides/notesSlide2.xml" Id="Re041d5981c3e4e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cd658371ca4f8f" /><Relationship Type="http://schemas.openxmlformats.org/officeDocument/2006/relationships/notesSlide" Target="/ppt/notesSlides/notesSlide3.xml" Id="R7d25a754c60d4f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1fd7a876304dff" /><Relationship Type="http://schemas.openxmlformats.org/officeDocument/2006/relationships/image" Target="/ppt/media/image4.png" Id="Rf05ff896a1f44dad" /><Relationship Type="http://schemas.openxmlformats.org/officeDocument/2006/relationships/notesSlide" Target="/ppt/notesSlides/notesSlide4.xml" Id="Ra7edc2c1cbe94a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bb3feaa8ae42a2" /><Relationship Type="http://schemas.openxmlformats.org/officeDocument/2006/relationships/notesSlide" Target="/ppt/notesSlides/notesSlide5.xml" Id="Rdb0e0cbcc1df4e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cfa5972bf3480f" /><Relationship Type="http://schemas.openxmlformats.org/officeDocument/2006/relationships/image" Target="/ppt/media/image5.png" Id="Rbf11abbed9e641c9" /><Relationship Type="http://schemas.openxmlformats.org/officeDocument/2006/relationships/notesSlide" Target="/ppt/notesSlides/notesSlide6.xml" Id="Rf30f4879864b44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b85d1e32bb4c24" /><Relationship Type="http://schemas.openxmlformats.org/officeDocument/2006/relationships/notesSlide" Target="/ppt/notesSlides/notesSlide7.xml" Id="R0ffaf50e3c3e43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23005825574ba2" /><Relationship Type="http://schemas.openxmlformats.org/officeDocument/2006/relationships/notesSlide" Target="/ppt/notesSlides/notesSlide8.xml" Id="Rb404729cf2ce42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c022098fe1495e" /><Relationship Type="http://schemas.openxmlformats.org/officeDocument/2006/relationships/image" Target="/ppt/media/image6.png" Id="Rb8ed7088221d4190" /><Relationship Type="http://schemas.openxmlformats.org/officeDocument/2006/relationships/notesSlide" Target="/ppt/notesSlides/notesSlide9.xml" Id="R24cf6431ce1b40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0225a5ab2b4386" /><Relationship Type="http://schemas.openxmlformats.org/officeDocument/2006/relationships/notesSlide" Target="/ppt/notesSlides/notesSlide10.xml" Id="R66f497126f2e4ee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046d32c3f14e66" /><Relationship Type="http://schemas.openxmlformats.org/officeDocument/2006/relationships/image" Target="/ppt/media/image7.png" Id="R6854844b9bdd48fe" /><Relationship Type="http://schemas.openxmlformats.org/officeDocument/2006/relationships/notesSlide" Target="/ppt/notesSlides/notesSlide11.xml" Id="R922b22d4e8cb416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716c576cc544e5" /><Relationship Type="http://schemas.openxmlformats.org/officeDocument/2006/relationships/image" Target="/ppt/media/image8.png" Id="Rc05fcd1077a647fb" /><Relationship Type="http://schemas.openxmlformats.org/officeDocument/2006/relationships/notesSlide" Target="/ppt/notesSlides/notesSlide12.xml" Id="R7a303764db0f456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e47e72395f4bb4" /><Relationship Type="http://schemas.openxmlformats.org/officeDocument/2006/relationships/image" Target="/ppt/media/image9.png" Id="R0618fd10e7cc4335" /><Relationship Type="http://schemas.openxmlformats.org/officeDocument/2006/relationships/image" Target="/ppt/media/image10.png" Id="R0b19f02e6704492c" /><Relationship Type="http://schemas.openxmlformats.org/officeDocument/2006/relationships/image" Target="/ppt/media/image11.png" Id="R9d547ee1f63a448a" /><Relationship Type="http://schemas.openxmlformats.org/officeDocument/2006/relationships/notesSlide" Target="/ppt/notesSlides/notesSlide13.xml" Id="R71ccb6007d56404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5b6825dfb543e5" /><Relationship Type="http://schemas.openxmlformats.org/officeDocument/2006/relationships/notesSlide" Target="/ppt/notesSlides/notesSlide14.xml" Id="Raefe79fc0e554ee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FFC1BF-B237-4523-A14A-65293020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26A82-A02D-47DD-886A-8F2A196F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3C54F-3527-496E-81BF-AA838481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五线谱识别 demo 过程复盘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443D1-C4AB-4793-9591-04C152F1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143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1E4D8-C00F-473A-83FB-CF4DB659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7C8D7E-75B3-412A-B50C-62D36FE1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533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传统图像方法识别五线谱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A0F78-2172-473D-BEF1-25C1FCB9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从定位谱线到符头、符杆、连梁、小节线、文字与谱外加线的迭代过程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13c09ba3cc4386"/>
          <a:stretch xmlns:a="http://schemas.openxmlformats.org/drawingml/2006/main"/>
        </p:blipFill>
        <p:spPr>
          <a:xfrm xmlns:a="http://schemas.openxmlformats.org/drawingml/2006/main">
            <a:off x="6524625" y="1004888"/>
            <a:ext cx="4953000" cy="9144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2384E5-EC5C-4EFF-8510-1B84A268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288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453F61-5AF3-4CAC-8BDB-23FB85AE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2266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798171-9E7D-4852-AD28-65583EE7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FDF8EB-24A0-402D-A19C-BA21AFA8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201D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16201D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8F74E0-3308-4112-9CA2-EF8EEB6D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200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检测到的五线谱系统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337255-3F4D-4FA9-9B2F-03459128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rPr>
              <a:t>50 条 staff line -&gt; 10 组 staff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4D0CD9-B86E-4E94-BCA8-211B5679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2266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6B54E0-54B8-499D-BC79-CA23E28D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A282AE-FE2F-41F0-863D-434CFB8B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670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201D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16201D"/>
                </a:solidFill>
                <a:latin typeface="Consolas"/>
                <a:ea typeface="Consolas"/>
                <a:cs typeface="Consolas"/>
              </a:rPr>
              <a:t>457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E872C0-9550-4989-9662-898453B6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71800"/>
            <a:ext cx="200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符头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367772-1575-4483-8306-EA5CFA36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05150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rPr>
              <a:t>filled 415 / open 42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DA059A-11EC-4C0B-909F-F4B6B60D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71750"/>
            <a:ext cx="2266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1A983E-B961-4CFB-A196-13FAD524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717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4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AAFEAD-6C7F-4347-A339-5AB14787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670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201D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16201D"/>
                </a:solidFill>
                <a:latin typeface="Consolas"/>
                <a:ea typeface="Consolas"/>
                <a:cs typeface="Consolas"/>
              </a:rPr>
              <a:t>357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A004D9-FA24-4F94-925D-219995D6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71800"/>
            <a:ext cx="200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符杆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6BF3D2-C9A6-4D8C-98FA-7F84774F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105150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rPr>
              <a:t>由符头垂直扫描得到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ADE888-49E4-49BD-872E-34F4E77B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71750"/>
            <a:ext cx="2266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2FB185-63E1-4BB5-B400-C7E33B73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717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636A6E-8A3D-4930-904D-44580AEF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201D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16201D"/>
                </a:solidFill>
                <a:latin typeface="Consolas"/>
                <a:ea typeface="Consolas"/>
                <a:cs typeface="Consolas"/>
              </a:rPr>
              <a:t>68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C4E121-17C7-4111-B0EF-0F147369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71800"/>
            <a:ext cx="200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连梁组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CDA291-5ACE-40C5-BB55-ED61DFD2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05150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rPr>
              <a:t>stem terminal + slope group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B6AA47-97A5-4DFE-870F-744C5BFF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rPr>
              <a:t>最终示例目录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ECCA96-D7D7-41E4-87E7-E4D83BF4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01D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6201D"/>
                </a:solidFill>
                <a:latin typeface="Consolas"/>
                <a:ea typeface="Consolas"/>
                <a:cs typeface="Consolas"/>
              </a:rPr>
              <a:t>D:\PyCharmPojects\Staff\outputs\traditional_omr_demo_lg2267728_v18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A3975B-71C9-4164-9507-FED1E914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目标：证明传统 OMR pipeline 的可解释性，并把每次错误暴露出来，逐步收敛规则。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D28DB2-F975-4227-BEF8-6F924E39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D828CD-6845-449D-BEB1-0C723CCA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rPr>
              <a:t>本 PPT 总结当前 demo 的方法、参数、问题和 v18 结果；不是神经网络方案。</a:t>
            </a:r>
          </a:p>
        </p:txBody>
      </p:sp>
    </p:spTree>
    <p:extLst>
      <p:ext uri="{BB962C8B-B14F-4D97-AF65-F5344CB8AC3E}">
        <p14:creationId xmlns:p14="http://schemas.microsoft.com/office/powerpoint/2010/main" val="9684299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EE8447-7FB0-4248-B0FA-E3155A53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01BA1-84B6-40D4-86DE-EE6F5DBA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487A4-142D-496F-9428-1DE6D62C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Traditional OMR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32877-67AF-42E1-95A6-AF28134A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143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AAC22-7A02-4BF3-BE7E-F4D83586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rPr>
              <a:t>最初的处理思路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692767-012E-4AAC-BDF9-FE1C37A3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先把乐谱变成可计算的几何框架，再识别符号。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079819-2ECD-476D-AA47-9C02AA22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核心假设：五线谱线等间距、长直、成组出现；符头落在谱线或线间的半格位置。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277ecaa6dd4ba7"/>
          <a:stretch xmlns:a="http://schemas.openxmlformats.org/drawingml/2006/main"/>
        </p:blipFill>
        <p:spPr>
          <a:xfrm xmlns:a="http://schemas.openxmlformats.org/drawingml/2006/main">
            <a:off x="590550" y="2519289"/>
            <a:ext cx="5314950" cy="981222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F97F8-B7F0-40CE-B120-491602B2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621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rPr>
              <a:t>原始输入片段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f3ca2bce1d46c2"/>
          <a:stretch xmlns:a="http://schemas.openxmlformats.org/drawingml/2006/main"/>
        </p:blipFill>
        <p:spPr>
          <a:xfrm xmlns:a="http://schemas.openxmlformats.org/drawingml/2006/main">
            <a:off x="6286500" y="2519289"/>
            <a:ext cx="5314950" cy="981222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4F0C5D-FE39-486E-BD7E-BA66A7CB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621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rPr>
              <a:t>二值化后片段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22E22B-97FF-424D-BE19-9180DC62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533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6B60DA-4AC5-42D8-9777-3881AD80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rPr>
              <a:t>用户给出的顺序思路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B7CBF8-C2BB-4ED7-A9A7-923FF111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045B4A-50E2-4E27-BCD3-61D41F89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457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先扫水平长线，估计 staff space。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0BB66C-A548-4680-AECF-650CC43D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00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F418D6-2F42-4DBD-B41B-C2B9DF68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24425"/>
            <a:ext cx="457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由任意一条谱线向上下扩展，验证五线谱小整体。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4B2DBA-995D-450F-8958-BF226DF3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87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1E889A-681F-4CBD-B466-CE6A3DF6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62550"/>
            <a:ext cx="457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重复定位全页 staff，并找谱号、换行。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B62925-3D0A-4505-B1D2-B6B8BEDA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942BA7-6818-43C4-B2B0-75ADF5B6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00675"/>
            <a:ext cx="457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再按半格音高网格扫描符头、符杆、连梁、休止符与文字。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9D0D22-A907-438D-902E-1BC777C8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3149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1"/>
          </a:solidFill>
          <a:ln xmlns:a="http://schemas.openxmlformats.org/drawingml/2006/main" w="9525">
            <a:solidFill>
              <a:srgbClr val="CAD8D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EB5669-0147-455D-B2EA-6B08C89B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434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5E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85E8E"/>
                </a:solidFill>
                <a:latin typeface="Microsoft YaHei"/>
                <a:ea typeface="Microsoft YaHei"/>
                <a:cs typeface="Microsoft YaHei"/>
              </a:rPr>
              <a:t>我们实际落地的原则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667A63-F4D0-437A-AD3F-E4BB4CDB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625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F5E2EB-0D04-4471-B170-4B5C13B8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86300"/>
            <a:ext cx="457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所有识别结果都必须可视化：框、中心点、权重范围。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D3D9D5-392C-453C-A7B4-BD6D9CB2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00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801062-98B3-4F96-B6FD-14570C3C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24425"/>
            <a:ext cx="457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先做强几何：staff / stem / barline，再处理弱符号。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B784D0-EE75-43E6-ABE6-B4DF1C80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387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2EC225-CB79-4443-A1B4-6183A384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162550"/>
            <a:ext cx="457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每次误检都转化成屏蔽、复核或候选补充规则。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7D0A4D-6D98-4921-9EFB-8EBCD61E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768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3357C5-F919-47CE-9ED4-B17D7A85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400675"/>
            <a:ext cx="457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JSON 作为中间结构，再重构出可检查图像。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0A60C2-6EAC-4173-BD43-24B71EF2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B605B9-B8ED-41A3-AE38-09E18953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rPr>
              <a:t>输入样例: lg-2267728-aug-beethoven--page-2.png | 输出: traditional_omr_demo_lg2267728_v18</a:t>
            </a:r>
          </a:p>
        </p:txBody>
      </p:sp>
    </p:spTree>
    <p:extLst>
      <p:ext uri="{BB962C8B-B14F-4D97-AF65-F5344CB8AC3E}">
        <p14:creationId xmlns:p14="http://schemas.microsoft.com/office/powerpoint/2010/main" val="103768188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A93F97-96AE-4247-B050-53D9EC82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27B1D-F043-4D79-9112-C4319388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E2EB5-86DE-43F5-B8DA-F3F6B0CC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Traditional OMR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81C4F-AC20-48C1-971F-D0D42F7D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143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3F614E-E7EC-4523-8570-3AAD5E1E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rPr>
              <a:t>Pipeline 总览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C7D03-61B1-461F-A65A-D32C8E12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一条传统 OMR 规则链：先定位坐标系，再做符号级判断。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02B5D2-E702-4625-BE2B-3245954C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每个阶段都输出 JSON 与可视化，用来定位下一轮问题。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D628B-B0DE-48DB-B8DB-B7BE10C8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2A70AC-F660-442A-9B3F-323232EE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71725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6B4D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126B4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BB310D-7BCF-4A04-BEDC-91673A4B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90775"/>
            <a:ext cx="2419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二值化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8F54CE-9A54-48F9-BD06-57C1DAC6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76525"/>
            <a:ext cx="2400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Otsu + 偏移阈值，把谱面压成黑白 mask。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2FACDC-604B-4C0E-9261-B1369EC9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622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7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5DC86F-8123-4755-93C1-2C88BAF9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7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07F12D-95C6-48AF-921E-50948FE8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38375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C00582-B50C-4172-B628-2A0B4A43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71725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85E8E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285E8E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891232-45DA-480E-BC31-F989034E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90775"/>
            <a:ext cx="2419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谱线定位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13E108-ECB9-4729-B82E-8528AA5D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76525"/>
            <a:ext cx="2400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水平投影找长直线，聚成 5 条一组的 staff。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880DC5-4C85-457B-81E4-238315BE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622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7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724D4F-1E79-44C0-8ECA-02D0C761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241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7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FB0E6C-35AF-4B78-9EA3-9E34168F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38375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969542-E78C-4712-A320-C3C9FFAC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71725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6B4D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126B4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494231-59E6-42B9-84DA-7B895E99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90775"/>
            <a:ext cx="2419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干扰屏蔽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0C2C75-2F37-4C51-A597-D21801CE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76525"/>
            <a:ext cx="2400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谱号、升号、文字区域、长横线先排除。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75BA0C-141F-4BBF-AD3B-5352D439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33825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67C2AB-641F-4196-A89B-93B9529B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67175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85E8E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285E8E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7E0CF4-2D1F-4159-862E-B7BCCB87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86225"/>
            <a:ext cx="2419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符头候选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B0F496-5A6E-4984-A453-6A199BB0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71975"/>
            <a:ext cx="2400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半格音高网格 + 黑色投影补候选。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BCFAC5-C56C-4806-A6F6-4CBC331D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577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7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0D290A-923E-4686-B902-D5322D41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196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7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823651-98C9-4749-96D9-83178BE2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33825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527C0D-F34F-46E3-BC91-7E0574C0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67175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6B4D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126B4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480FA5-2D31-45BD-97D4-BCBCA149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86225"/>
            <a:ext cx="2419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结构识别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72FEFD-7CA2-478A-913D-09CC8CF6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71975"/>
            <a:ext cx="2400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符杆、小节线、加线、连梁、休止符。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F9F122-7FEB-4620-AE22-0026466B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577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7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AC6788-F7AA-4213-9C50-7C07FFA0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196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7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3B4A85-9849-46EE-80FB-E25D6FCE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33825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F9F1AE-CCB4-4F55-BE58-8D39E105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67175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85E8E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285E8E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13550B-451B-447F-8A0B-8CC4B5B8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86225"/>
            <a:ext cx="2419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JSON 重构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F428E6-F69A-4D7C-B58D-B54326F3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71975"/>
            <a:ext cx="2400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从 detection_result.json 画重构图与 PDF。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EB6433-9E12-4DF5-ACF9-E49C5BE9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305175"/>
            <a:ext cx="190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7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91A42B-CCF9-4A91-85CB-A03A3B70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695700"/>
            <a:ext cx="9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7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6217F2-DBD4-437D-AA44-3AF911E3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305175"/>
            <a:ext cx="190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7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9C6473E-4A8B-4014-8EC6-3873761C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695700"/>
            <a:ext cx="9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7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4824689-E1C9-46D3-84EE-97FFE391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0839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C"/>
          </a:solidFill>
          <a:ln xmlns:a="http://schemas.openxmlformats.org/drawingml/2006/main" w="9525">
            <a:solidFill>
              <a:srgbClr val="D7DDD7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A1871BF-CEC4-4146-897C-1AF38155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9775"/>
            <a:ext cx="1028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关键设计：几何定位和符号分类分离。先固定 staff coordinate，再让后续规则只在局部坐标里工作。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22633A-A712-4CE1-B02F-CB6F3E67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B5FB969-5BF4-4196-98AD-343B5180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rPr>
              <a:t>输入样例: lg-2267728-aug-beethoven--page-2.png | 输出: traditional_omr_demo_lg2267728_v18</a:t>
            </a:r>
          </a:p>
        </p:txBody>
      </p:sp>
    </p:spTree>
    <p:extLst>
      <p:ext uri="{BB962C8B-B14F-4D97-AF65-F5344CB8AC3E}">
        <p14:creationId xmlns:p14="http://schemas.microsoft.com/office/powerpoint/2010/main" val="12891449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8F0BF5-654E-49B0-AAFE-EC110FD6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5B6C2-3FC8-4033-9A3C-F3D2FEBF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1777CE-F7B9-439F-A8D7-FC3FECB9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Traditional OMR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C65F91-CEA2-42DB-8676-E6EC59FC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143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C3AED1-418C-4D45-8013-8F8D96EA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rPr>
              <a:t>谱线和 staff space 是整个识别的坐标系。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BB50F8-D7E4-4AC5-93C6-5D1EDCF4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先通过水平投影找到长直线，再用等距关系聚成 staff。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24F90A-16C9-4C63-92C6-642E5D33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这一步决定后续所有 pitch_step、ledger line、符头采样框大小。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5ff896a1f44dad"/>
          <a:stretch xmlns:a="http://schemas.openxmlformats.org/drawingml/2006/main"/>
        </p:blipFill>
        <p:spPr>
          <a:xfrm xmlns:a="http://schemas.openxmlformats.org/drawingml/2006/main">
            <a:off x="514350" y="2167721"/>
            <a:ext cx="7239000" cy="1970108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03CFAD-6F26-4A8F-AEEC-55C0C01B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5265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AE36F-1BA5-4F2F-8B87-09C36AEC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431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rPr>
              <a:t>核心超参数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E4DD8C-9759-447A-9DEB-D856321A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003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B3B0D5-04F4-49A3-AF13-5921443F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24150"/>
            <a:ext cx="2457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二值阈值：min(212, max(170, Otsu + 35))；本页阈值 174。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CDCF35-2B5D-422B-B13D-3C1FD950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146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A6876F-9FF7-4035-ADA7-C7419A99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38475"/>
            <a:ext cx="2457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谱线候选：行投影 &gt; max(width * 0.22, p99.5 * 0.62)。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6734A9-2606-4C46-86DF-94868ABB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290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2AC3BD-84B5-4B3C-A65F-3CC3C8FC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52800"/>
            <a:ext cx="2457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staff space：谱线 y 差分的众数/中位数；本例 16.75 px。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F02E7C-8BB4-4A66-AA23-47945954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433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03E2FD-186E-4F42-B804-E73B497D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67125"/>
            <a:ext cx="2457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staff 聚类：连续 5 条线，间距误差 &lt;= max(2.4, space * 0.22)。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A68F9E-A9FD-4028-A214-7F006053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CB9115-6280-482D-97FF-710A8967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84276F-4277-44D9-B7FB-AE9A0DA9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43450"/>
            <a:ext cx="2114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201D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16201D"/>
                </a:solidFill>
                <a:latin typeface="Consolas"/>
                <a:ea typeface="Consolas"/>
                <a:cs typeface="Consolas"/>
              </a:rPr>
              <a:t>50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98CB4A-E161-42EE-BCAC-7B5DC6CB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48250"/>
            <a:ext cx="2114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staff_line_candidates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4514FC-0897-45F4-85DA-A4B61B12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81600"/>
            <a:ext cx="2114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rPr>
              <a:t>每组 5 条线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5F7552-25F7-405B-9922-BC00C39F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4820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9D3AA6-9430-4649-9A5B-1D1EFADB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482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0B77BC-AC31-4E25-82FC-B07863FC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743450"/>
            <a:ext cx="2114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201D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16201D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3ED09D-4EAC-4CE4-9A2C-8EA812BE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048250"/>
            <a:ext cx="2114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staves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31A3E9-6938-4650-ACC6-1A985CA3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81600"/>
            <a:ext cx="2114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rPr>
              <a:t>钢琴大谱表上下各 5 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D03B7F-1E77-427B-8D62-0249725D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4820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1324DF-6CDD-4054-9DBA-E692639C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482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663B70-F119-4A3C-9485-A4045188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43450"/>
            <a:ext cx="2114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201D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16201D"/>
                </a:solidFill>
                <a:latin typeface="Consolas"/>
                <a:ea typeface="Consolas"/>
                <a:cs typeface="Consolas"/>
              </a:rPr>
              <a:t>16.75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438AF0-142F-43A4-A875-1D2175E5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48250"/>
            <a:ext cx="2114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staff_space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FEB1FF-1E28-4D07-8D35-118F8235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81600"/>
            <a:ext cx="2114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rPr>
              <a:t>所有局部窗口都按它缩放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753FEA-1B85-4A2D-BD13-CD54DABE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4820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BD9EA6-46DB-4337-B2DE-F3DEEEE4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482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4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C2491A-D4ED-4037-8586-CB321DD6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43450"/>
            <a:ext cx="2114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201D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16201D"/>
                </a:solidFill>
                <a:latin typeface="Consolas"/>
                <a:ea typeface="Consolas"/>
                <a:cs typeface="Consolas"/>
              </a:rPr>
              <a:t>46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17AA0A-3C26-4E2E-B1B4-040FC31D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048250"/>
            <a:ext cx="2114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barlines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3BE406-2CC7-4AC1-835C-60956AB0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81600"/>
            <a:ext cx="2114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rPr>
              <a:t>垂直长线基于 staff 范围识别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111304-3A78-41E6-BC77-51E930DC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525E08-8F9D-4508-B606-C0A687EB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rPr>
              <a:t>输入样例: lg-2267728-aug-beethoven--page-2.png | 输出: traditional_omr_demo_lg2267728_v18</a:t>
            </a:r>
          </a:p>
        </p:txBody>
      </p:sp>
    </p:spTree>
    <p:extLst>
      <p:ext uri="{BB962C8B-B14F-4D97-AF65-F5344CB8AC3E}">
        <p14:creationId xmlns:p14="http://schemas.microsoft.com/office/powerpoint/2010/main" val="1293790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97373A-59EF-485A-9F0A-D483E6C8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42F4A-EAD4-480B-8939-71BEF563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05720-3BBA-4380-8AA9-A9A6479C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Traditional OMR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532DB-994F-402A-959B-1A0A38A3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143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989BD-D538-481A-B8CF-6301BEDB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rPr>
              <a:t>符头识别从一个可解释的权重图开始。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96304-1A8A-4F6A-8C40-2FE2C941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每个候选中心都套三层椭圆 mask：外圈、本体、中心孔洞。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2A505-2D6A-426D-BCF0-BE330B77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先判断“像不像符头”，再判断 filled/open。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67431-8299-482B-A10E-05855F90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4953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2FB6CA-2A88-4D72-8A1D-963E153D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rPr>
              <a:t>符头权重图示意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9CB2E3-ABFC-408A-96D1-B5B5298D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543175"/>
            <a:ext cx="2286000" cy="1485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16B">
              <a:alpha val="20000"/>
            </a:srgbClr>
          </a:solidFill>
          <a:ln xmlns:a="http://schemas.openxmlformats.org/drawingml/2006/main" w="19050">
            <a:solidFill>
              <a:srgbClr val="D8892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F33D8E-485B-44B6-9B8C-FE5BCE21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790825"/>
            <a:ext cx="15621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23A">
              <a:alpha val="13333"/>
            </a:srgbClr>
          </a:solidFill>
          <a:ln xmlns:a="http://schemas.openxmlformats.org/drawingml/2006/main" w="28575">
            <a:solidFill>
              <a:srgbClr val="C8423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02490E-B703-4227-8526-2920D91D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48000"/>
            <a:ext cx="7810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7B4FA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70F232-A5CE-48E7-82FF-F1F17097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27660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181B2E-B1E1-4341-A02F-E468F2AC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28975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507E9F-2909-4976-B359-0E5A9556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1462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8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D88922"/>
                </a:solidFill>
                <a:latin typeface="Microsoft YaHei"/>
                <a:ea typeface="Microsoft YaHei"/>
                <a:cs typeface="Microsoft YaHei"/>
              </a:rPr>
              <a:t>surround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6C2715-2866-4460-A503-6DD2B343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385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842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8423A"/>
                </a:solidFill>
                <a:latin typeface="Microsoft YaHei"/>
                <a:ea typeface="Microsoft YaHei"/>
                <a:cs typeface="Microsoft YaHei"/>
              </a:rPr>
              <a:t>outer body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7885BC-DA13-421D-8F89-B0243FF4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528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B4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B4FA3"/>
                </a:solidFill>
                <a:latin typeface="Microsoft YaHei"/>
                <a:ea typeface="Microsoft YaHei"/>
                <a:cs typeface="Microsoft YaHei"/>
              </a:rPr>
              <a:t>inner/core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34871D-AB7C-46C7-89C2-041C4CA1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4953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89CD88-5888-415A-A740-E593180E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574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rPr>
              <a:t>必要超参数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652BD3-C3BF-4523-A2B4-230AEDE2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718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F1C1D2-E86F-4453-89C8-7BD416C8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95600"/>
            <a:ext cx="415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符头半径：rx = max(5, round(space * 0.78)); ry = max(4, round(space * 0.50))。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A5EBE9-8CE4-40A9-8BC1-2700A18C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147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AF9A84-1D2D-469D-ACE8-F5A95CE4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38500"/>
            <a:ext cx="415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内核：inner = rx * 0.50, ry * 0.48；core = rx * 0.34, ry * 0.30。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00DA27-C76C-4DFB-95C9-40BD2932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576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69C2AC-3046-4339-966D-39DA280C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81400"/>
            <a:ext cx="415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音高候选：top_line + pitch_step * space / 2；范围 step -10 到 18。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7357A4-0371-4997-9257-23F7D72A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005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24DD0A-F2E5-49FC-92CB-A07B4F59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24300"/>
            <a:ext cx="415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横向扫描步长：step_x = max(2, round(space / 4))。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8F5BEE-CCE1-4A29-AFD0-5F65D832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434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8FC21F-4DE4-4FC5-BCF6-C3E930A5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67200"/>
            <a:ext cx="415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空心分数：0.72 * ring + 0.30 * hole_bonus - 0.22 * surround。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026808-F673-44E4-B916-48D58030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53050"/>
            <a:ext cx="1038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C"/>
          </a:solidFill>
          <a:ln xmlns:a="http://schemas.openxmlformats.org/drawingml/2006/main" w="9525">
            <a:solidFill>
              <a:srgbClr val="D8DDD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AF0426-E822-43E2-BC8C-97E56E9F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05450"/>
            <a:ext cx="9791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最初问题：只靠固定 x 网格会漏掉贴近符杆/连梁、被谱线切开的符头；只看去谱线图又会把实心误判为空心。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C6111F-2BB9-41DE-B313-71D9F40D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F05969-7D94-4945-9662-261DE828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rPr>
              <a:t>输入样例: lg-2267728-aug-beethoven--page-2.png | 输出: traditional_omr_demo_lg2267728_v18</a:t>
            </a:r>
          </a:p>
        </p:txBody>
      </p:sp>
    </p:spTree>
    <p:extLst>
      <p:ext uri="{BB962C8B-B14F-4D97-AF65-F5344CB8AC3E}">
        <p14:creationId xmlns:p14="http://schemas.microsoft.com/office/powerpoint/2010/main" val="1535529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087F11-B17C-4D09-AD37-369D406A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A0139A-2FB6-46C6-A7DE-ACC36642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4830C-BB36-4F1F-9682-9F0CBFB2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Traditional OMR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6C62B-8920-485E-83BC-AEABF322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143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2D52F0-431D-493A-9434-04C7CD0C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rPr>
              <a:t>第一轮 demo 暴露的问题：符号之间互相污染。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D128D-430A-49FB-8CBE-DEC9C6A7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传统方法最大挑战不是单个符号，而是局部形状重叠。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B404C-FD98-45C7-ABBC-B5E4792F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升号、文字、符杆、连梁、谱线都会改变局部黑色分布。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B90A8-ECEC-4916-9A2D-D0AE7A72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D8946-AA3C-40F8-ADAB-42B35445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42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8423A"/>
                </a:solidFill>
                <a:latin typeface="Microsoft YaHei"/>
                <a:ea typeface="Microsoft YaHei"/>
                <a:cs typeface="Microsoft YaHei"/>
              </a:rPr>
              <a:t>按顺序遇到的问题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708A46-EC5D-4D2E-B9CD-49218492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4B0F0E-C74E-46E9-A895-CE1770FD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4286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连音/连梁没有被识别：两个八分音符组合没有结构化。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B51246-4226-4333-B1D8-CE264E13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18F536-78BE-4694-95D7-31064639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33725"/>
            <a:ext cx="4286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休止符缺失，且实心符头容易被误判为休止符。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DB7318-C3F6-4FE9-B383-BE147AB7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86F6F1-91A5-4803-A7CB-AF45551C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86150"/>
            <a:ext cx="4286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小节线、谱号没有明确输出到 JSON 和重构图。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69837C-E412-4DDD-B365-EF5FA646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147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534220-6E3C-4CE2-94A7-134D9B91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38575"/>
            <a:ext cx="4286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谱外音缺少 ledger line 推断，无法定位超出五线谱的音。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4DDDF8-D4A3-4B6B-B644-F6EFC7BD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B5AAA4-0153-4377-8365-C9487C7D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4286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升号被当作符头；英文 To Coda 被当成音符或 accidental。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E2587C-B254-4AB2-B4EF-2AC5522B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9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2BE20E-C5E9-45D2-A8B0-7F69CAF2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43425"/>
            <a:ext cx="4286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大量实心符头被判成空心符头。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11abbed9e641c9"/>
          <a:stretch xmlns:a="http://schemas.openxmlformats.org/drawingml/2006/main"/>
        </p:blipFill>
        <p:spPr>
          <a:xfrm xmlns:a="http://schemas.openxmlformats.org/drawingml/2006/main">
            <a:off x="6191250" y="2256673"/>
            <a:ext cx="4857750" cy="2173204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E28E5F-5295-41F1-8B1F-3968351A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910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示例：文字与升号需要先从符头候选空间里剥离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860410-4452-485E-852E-21981ABE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48250"/>
            <a:ext cx="4857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E8"/>
          </a:solidFill>
          <a:ln xmlns:a="http://schemas.openxmlformats.org/drawingml/2006/main" w="9525">
            <a:solidFill>
              <a:srgbClr val="E6C7A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0CCCDC-C36F-49D1-94B1-4317C6D2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00650"/>
            <a:ext cx="432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处理原则：发现误检后，不直接调一个阈值；先判断它属于“候选源错误、分类规则错误、还是前处理误伤”。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EA363F-7178-4C9E-A7C9-AE6A5FE5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A8B8E5-34C5-4AAC-9F86-53CDE799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rPr>
              <a:t>输入样例: lg-2267728-aug-beethoven--page-2.png | 输出: traditional_omr_demo_lg2267728_v18</a:t>
            </a:r>
          </a:p>
        </p:txBody>
      </p:sp>
    </p:spTree>
    <p:extLst>
      <p:ext uri="{BB962C8B-B14F-4D97-AF65-F5344CB8AC3E}">
        <p14:creationId xmlns:p14="http://schemas.microsoft.com/office/powerpoint/2010/main" val="103966509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23990D-12FF-447D-9F6E-8ABE028C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436745-8A5F-42C8-A7C6-E43FA8D7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DB2D0A-6640-4589-A2F7-38341B88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Traditional OMR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766B8-48B4-4D82-AF14-728A0FFF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143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6AEBCD-4A82-4544-AA02-DDB2C103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rPr>
              <a:t>迭代时间线：每一轮都是一次错误分类归因。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B4463-1780-4855-9093-85A713D7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把“看起来识别错了”拆成候选、屏蔽、结构分组、复核四类问题。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BB5B11-E2D5-4B88-86B0-C749B1DA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A"/>
          </a:solidFill>
          <a:ln xmlns:a="http://schemas.openxmlformats.org/drawingml/2006/main" w="9525">
            <a:solidFill>
              <a:srgbClr val="CAD6C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6ADB5-98B8-413F-9093-EACB250E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04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版本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BB2B2C-5EA0-43F6-B41C-6BC5AE6F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09750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A"/>
          </a:solidFill>
          <a:ln xmlns:a="http://schemas.openxmlformats.org/drawingml/2006/main" w="9525">
            <a:solidFill>
              <a:srgbClr val="CAD6C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17716E-E832-4141-823B-BCDEAA7C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9240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修正主题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D1E232-F838-4DE6-8EB5-5C97C72F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09750"/>
            <a:ext cx="4905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A"/>
          </a:solidFill>
          <a:ln xmlns:a="http://schemas.openxmlformats.org/drawingml/2006/main" w="9525">
            <a:solidFill>
              <a:srgbClr val="CAD6C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677B02-385A-4F69-B6BF-6091ACFC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924050"/>
            <a:ext cx="47339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A8A872-C498-40C9-8E73-0D55D430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809750"/>
            <a:ext cx="3571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A"/>
          </a:solidFill>
          <a:ln xmlns:a="http://schemas.openxmlformats.org/drawingml/2006/main" w="9525">
            <a:solidFill>
              <a:srgbClr val="CAD6C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E0A624-CC9F-4CE2-9BDC-84DE9E50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924050"/>
            <a:ext cx="34004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4EFC26-E64B-40B9-A6C1-AA4979CA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8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41098D-921D-495E-A26A-81764567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704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rPr>
              <a:t>v1-v7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86B10A-79F5-40BB-AA21-78CE11C8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09800"/>
            <a:ext cx="1314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8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D6C20A-B765-48D2-A063-2A3A04D5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050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基础几何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84EBF6-A711-4162-8572-F3750FC7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09800"/>
            <a:ext cx="4905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8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EA4FE0-2A85-4B88-A85C-D086522D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05050"/>
            <a:ext cx="47339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谱线、staff、符头、符杆、barline、rest 初步规则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57B390-45EF-4F67-A327-CF39A933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209800"/>
            <a:ext cx="3571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8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F465E1-3DE8-4CB6-B88F-FF07151B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305050"/>
            <a:ext cx="34004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能跑通，但符号互相污染明显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88BD9E-B531-4F0C-802B-25E6691D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27F655-F57E-4441-B99B-F285F02B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704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rPr>
              <a:t>v8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3CAF28-DF61-469F-AFCE-D5A76331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62250"/>
            <a:ext cx="1314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081663-B7A2-4EB5-953E-3D0B98E8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575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连梁分组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2C7E63-C507-4F1B-9744-7C2A66F6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62250"/>
            <a:ext cx="4905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B87964-513B-448E-BE08-E2E5DA2B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57500"/>
            <a:ext cx="47339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beam_links 按斜率一致性和连续符杆合并 beam_group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983E80-F864-4C2B-91A8-71A658FA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762250"/>
            <a:ext cx="3571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D4F51E-F240-472E-A1AF-0DF7216E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857500"/>
            <a:ext cx="34004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两三个八分音符一组更清晰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CA609D-6579-4E1C-8357-3251DAF4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147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8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9C41A2-2750-438E-AFF1-F6ACB534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704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rPr>
              <a:t>v9-v11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C8DBCF-E3C7-46D2-B7AB-6566848F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1314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8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351C8B-B3C7-4DA1-8433-BFB8F749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099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谱号/加线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71FDB3-BCD1-4C3E-AAB7-119DA9AD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14700"/>
            <a:ext cx="4905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8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630F21-6548-4A48-899D-828A5B5E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09950"/>
            <a:ext cx="47339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clef_bbox + ledger_lines；重构图绘制 G/F 与加线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DA9EAC-8BA5-4D00-B131-C8722AC8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314700"/>
            <a:ext cx="3571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8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76B1C6-9CD1-40A8-92ED-CA352659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409950"/>
            <a:ext cx="34004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谱外音开始可视化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863D40-D7F4-44CB-A510-30AC88C7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671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F80C4C-66AA-4C78-8296-DAF37F08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704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rPr>
              <a:t>v12-v14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A6A6F6-EEE0-467F-8EC1-0233DA48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67150"/>
            <a:ext cx="1314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2973F1-8133-490F-975C-746BC436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624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升号和文字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192455-97AB-4A4F-A6CA-1CA9E160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67150"/>
            <a:ext cx="4905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6B936A0-EB79-4392-AA37-812F3D7B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962400"/>
            <a:ext cx="47339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accidentals/text_regions 先检测再屏蔽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966AD01-B893-4E94-9B4F-EE091D01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867150"/>
            <a:ext cx="3571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0A138F3-A5A0-4F20-9464-7431E443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962400"/>
            <a:ext cx="34004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升号不再进入符头；To Coda 输出到 JSON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DCB2CAD-B54B-49C5-9D68-D69C522C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96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8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CE3216-F033-43FE-B34B-36253B39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704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rPr>
              <a:t>v15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8DA1EF4-054E-45B4-A80E-B79DE6B2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19600"/>
            <a:ext cx="1314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8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AFF0F20-80B4-4942-BA50-B3BBE9A0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148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权重图调试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D093923-9D22-469B-907F-280AD44B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19600"/>
            <a:ext cx="4905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8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30291E9-8CFA-4612-94C0-A0B0A977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514850"/>
            <a:ext cx="47339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把符头本体、inner/core、surround 全部画出来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7189E40-6A30-4B7E-87EA-1E39FEB1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419600"/>
            <a:ext cx="3571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8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B5D28BE-B9A0-44ED-8B2C-21D32268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514850"/>
            <a:ext cx="34004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发现漏检发生在候选生成阶段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D1258CA-71A7-4A36-B582-AD4C26A4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720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71558F6-07D7-4E67-8309-4021F9DD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704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rPr>
              <a:t>v16-v17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08C738A-29F8-4B69-98CE-6E21A420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72050"/>
            <a:ext cx="1314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A4E92BA-D196-46D2-8311-2B9CE5FC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673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候选补全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17F068E-9D2B-45D3-84AD-F05E94CD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72050"/>
            <a:ext cx="4905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F82B690-014A-4614-BF46-C4C24E63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067300"/>
            <a:ext cx="47339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固定网格 + 音高带黑色投影补中心；NMS 合并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B8138EF-B06E-4373-8BEB-D97AB654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972050"/>
            <a:ext cx="3571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CFD584D-5090-4DCC-9704-D23BF5A8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067300"/>
            <a:ext cx="34004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补上漏检，但控制重复候选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A171E11-E9A5-49C5-95D9-2766DD10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8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65D3875-B1AF-47E4-8125-21E50FCD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704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rPr>
              <a:t>v18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728DCE7-599E-4866-8B86-00332393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24500"/>
            <a:ext cx="1314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8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C39CD79-EBE3-48F5-8A2B-78902EAF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197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实心复核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8873101-6C49-4B0D-A459-4EA2D50F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24500"/>
            <a:ext cx="4905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8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1B90899-DA02-4AF9-AE3D-604E8522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619750"/>
            <a:ext cx="47339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分类时同时看去谱线图和原始二值图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EE28B6C-1288-41A4-929F-22A0557E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524500"/>
            <a:ext cx="3571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8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59E01B0-CADB-4B64-925D-CFD53FB1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619750"/>
            <a:ext cx="34004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filled/open 从 298/159 修正到 415/42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038A924-9E9B-42D9-B501-A6220C13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82D8951-53CD-444D-BB26-87E31FF6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rPr>
              <a:t>输入样例: lg-2267728-aug-beethoven--page-2.png | 输出: traditional_omr_demo_lg2267728_v18</a:t>
            </a:r>
          </a:p>
        </p:txBody>
      </p:sp>
    </p:spTree>
    <p:extLst>
      <p:ext uri="{BB962C8B-B14F-4D97-AF65-F5344CB8AC3E}">
        <p14:creationId xmlns:p14="http://schemas.microsoft.com/office/powerpoint/2010/main" val="120056736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75A878-4D08-477C-9C69-D89DF5C7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02433-143A-44B5-B7DA-4AEB5F37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97F03C-10FE-4666-9E45-D1057AFD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Traditional OMR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550D66-30E6-4B55-B905-0ADA3F28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143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D313A3-CE70-4835-92ED-891E53F9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rPr>
              <a:t>连梁的改进：先找符杆，再用终端点连线。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94572-F65F-406A-838A-647613D1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用户强调的斜线逻辑被落成 beam group。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3B52D7-7C1B-4A5F-8CBE-9CA05334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不直接猜八分音符，而是从符杆端点出发，检测斜线 corridor 是否命中。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FFC01-6EB1-471E-806B-133EB063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B850C7-5CBB-417D-ACDE-EC3DB9AF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rPr>
              <a:t>方法示意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86F7FD-9C1D-48EE-A597-12861E06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52750"/>
            <a:ext cx="3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2BFF36-7F1C-4982-AF71-F552A5E7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52875"/>
            <a:ext cx="53340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997FEE-E759-4A25-B36A-991D8078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05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F38685-479F-4AD0-85E1-AD7C4995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62250"/>
            <a:ext cx="381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AA6725-49F4-4683-BFCC-18063D92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14750"/>
            <a:ext cx="53340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328E61-0F19-4A24-8EB1-163491F4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714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75F7CF-0B8B-4AD2-8980-FBE57295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71750"/>
            <a:ext cx="381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6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D7FC0E-C2FE-4D2D-930F-0A1A9D33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76625"/>
            <a:ext cx="53340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364D86-85C7-40B1-BC2B-D0657C7E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524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C25049-38A8-403E-9072-28179304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57500"/>
            <a:ext cx="23622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2C69F8-B46C-4261-935B-EE1E45AF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86100"/>
            <a:ext cx="2362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CF8906-D73C-44B2-B3D4-4D420D78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842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8423A"/>
                </a:solidFill>
                <a:latin typeface="Microsoft YaHei"/>
                <a:ea typeface="Microsoft YaHei"/>
                <a:cs typeface="Microsoft YaHei"/>
              </a:rPr>
              <a:t>1. stem terminal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A9A398-5905-4B59-B7CA-6B78E89F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767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2. slope corridor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CA6034-F94D-4CAC-9CC9-6AB52B33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D93129-36A2-4E88-A6FD-C0B31E40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765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rPr>
              <a:t>关键规则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F25508-6FB7-4655-AD9D-2FB092E9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480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275008-1A87-4909-8F45-F40094F8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7180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每个符头垂直扫描，找符杆 x、y0、y1、direction。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F4B14F-352A-4251-8F65-1283C510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099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C1FEAC-44BF-4A0D-BFCF-C764ED9E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3375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取符杆终端点：up 用 y0，down 用 y1。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C17D71-D886-4DA5-9E3D-BCFBBC5D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719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E75715-0F1C-4F63-92DD-125520DB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9570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两两终端点之间建立 line corridor，计算 hit_ratio 和 density。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5B69F7-4573-4E54-B0C1-E27107AD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338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5A123E-1849-43E2-830A-DCBA9FFE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5765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beam link 通过阈值：hit_ratio &gt;= 0.58 且 density &gt;= 0.16。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89B003-2949-495B-8AEF-FC201F92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958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EA71FE-81EE-4FB4-BC34-899436F1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1960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连续符杆 + 斜率差 &lt;= 0.22 合并成 beam group。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C27B96-0A70-485B-A1F2-1B38BC24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010150"/>
            <a:ext cx="428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1"/>
          </a:solidFill>
          <a:ln xmlns:a="http://schemas.openxmlformats.org/drawingml/2006/main" w="9525">
            <a:solidFill>
              <a:srgbClr val="CAD8D0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FD7144-1E4D-46EF-8C40-D15CC927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33975"/>
            <a:ext cx="3771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v18 结果：beam_links = 141，beam_groups = 68。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9CBD3F-46E8-4AC1-818D-488CEA38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E0E515-A2C7-455D-BF33-80B644B6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rPr>
              <a:t>输入样例: lg-2267728-aug-beethoven--page-2.png | 输出: traditional_omr_demo_lg2267728_v18</a:t>
            </a:r>
          </a:p>
        </p:txBody>
      </p:sp>
    </p:spTree>
    <p:extLst>
      <p:ext uri="{BB962C8B-B14F-4D97-AF65-F5344CB8AC3E}">
        <p14:creationId xmlns:p14="http://schemas.microsoft.com/office/powerpoint/2010/main" val="163748280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2F48FA-498D-463B-992C-CC06B3A7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DF9A99-11DD-4C9E-9D81-69C2B68F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1FCE42-67F5-4488-9458-E11CBC8F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Traditional OMR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21F30-7D21-4AEE-813F-B2E2ECBA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143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01D0AC-9130-4573-8808-56A6A21E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rPr>
              <a:t>非音符符号先剥离，否则一定污染符头检测。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3203E-5CB2-4FE0-AAC9-53EEA53D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升号、文字、休止符、小节线都不能和符头共用同一套局部黑度规则。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960DD-8AAE-49CB-AB6A-8D7C4A9B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这一轮从“检测符头”变成了“先定义非符头区域”。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ed7088221d4190"/>
          <a:stretch xmlns:a="http://schemas.openxmlformats.org/drawingml/2006/main"/>
        </p:blipFill>
        <p:spPr>
          <a:xfrm xmlns:a="http://schemas.openxmlformats.org/drawingml/2006/main">
            <a:off x="618565" y="2152650"/>
            <a:ext cx="4896971" cy="2190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81FA7-6C43-42D8-8950-8F50685F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4914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D8452E-386F-4DD4-A11C-36190867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rPr>
              <a:t>可视化约定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B03ED-5758-442F-B61A-C12DFB6F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95850"/>
            <a:ext cx="428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粉色：accidental  bbox；蓝色：text region bbox；黄色：rest bbox；橙色：barline。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AEB47F-D9F0-4DD7-A036-08EBDE5B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FFA430-165F-4D51-9119-E6DAB6A1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431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rPr>
              <a:t>改进方法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13B33E-CCBA-40F1-96C9-2C601AC2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575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9D10D7-364F-446D-B4A0-BF551241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81300"/>
            <a:ext cx="39814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accidental：组件宽高按 staff space 归一化，优先识别 sharp/natural。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9DC2CF-6B10-474F-BAA6-400AC1DE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28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D03DE7-5466-4090-AF30-1CCB14A0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52775"/>
            <a:ext cx="39814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文字：按同一 baseline 聚类组件，并用轻量模板识别 To Coda / 8va / al Coda。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E0802D-FB32-42A8-9486-1935821A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004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292C82-2595-4A61-B4E4-EFD3EB8F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24250"/>
            <a:ext cx="39814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符头检测前：note_mask = cleaned &amp; ~long_run &amp; ~accidental_mask &amp; ~text_mask。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870AD4-3306-4009-B7A4-5FA4D81C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719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069AD0-2BEB-4710-A51A-C6D835EB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95725"/>
            <a:ext cx="39814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休止符检测前：排除 notehead-like、stem-near、beam-group-near、barline-near 组件。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204C81-AEF9-451C-9023-DD3CE49E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434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152F11-5873-410C-B140-44944C28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67200"/>
            <a:ext cx="39814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小节线：在 staff y 范围内找垂直长 run，min_len = 3.55 * space。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76D815-B490-4C49-8F6F-CA530ECF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196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1"/>
          </a:solidFill>
          <a:ln xmlns:a="http://schemas.openxmlformats.org/drawingml/2006/main" w="9525">
            <a:solidFill>
              <a:srgbClr val="CAD8D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E62427-9F1A-4AB1-A48F-5BCC3C58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3395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v18 结果：accidentals 21，text_regions 5，barlines 46，rests 9。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080DB5-262D-4D18-A127-C86C0CD1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F6078B-C61F-4768-9170-95D5D903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rPr>
              <a:t>输入样例: lg-2267728-aug-beethoven--page-2.png | 输出: traditional_omr_demo_lg2267728_v18</a:t>
            </a:r>
          </a:p>
        </p:txBody>
      </p:sp>
    </p:spTree>
    <p:extLst>
      <p:ext uri="{BB962C8B-B14F-4D97-AF65-F5344CB8AC3E}">
        <p14:creationId xmlns:p14="http://schemas.microsoft.com/office/powerpoint/2010/main" val="150472371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DA9377-55AD-46B2-9960-6A2720B6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B8E78-4973-4D0F-8F88-ED95E31E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A0EA01-0533-464C-A463-C8D7B015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Traditional OMR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6100A-D016-436D-8992-33B228BD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143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C7422-C82A-45F0-9C95-D988741E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rPr>
              <a:t>谱外音：先定位符头，再找 ledger line。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7CBF1-C47A-4063-9CD7-62618F34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超出五线谱外的音不能靠 staff 内部 5 条线推断。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48341-0FD2-4126-89F8-838AC443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解决方法是沿 staff space 向上/下扩展短横线检测。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A56491-15EF-4964-9962-3EB89F5A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4667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8C0C11-1364-46A2-9459-BCBF2021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rPr>
              <a:t>推断逻辑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940755-10DE-4058-A6DB-F73C3E3C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60A049-87C0-48BE-A25B-BDCA99EC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52750"/>
            <a:ext cx="39052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如果 note.y &lt; staff.y0 - 0.45 * space，则进入 above ledger 检测。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E85974-99C5-4354-8479-7B367F91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B13CEF-F5DF-4509-92E0-30B76AD2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24225"/>
            <a:ext cx="39052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如果 note.y &gt; staff.y1 + 0.45 * space，则进入 below ledger 检测。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8D08A8-9927-41CD-A6E7-31179D77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719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67F04A-1A45-46E6-8BD0-5F234260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95700"/>
            <a:ext cx="39052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从最近的 staff 边界开始，每隔 space 扫一条短横线。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1EC86B-4D94-44BD-9FFF-7034C118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433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AA3C3E-564E-4FC7-8F7E-7293B350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67175"/>
            <a:ext cx="39052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横线需穿过符头 x 附近，并满足长度 0.75 * space 到 3.0 * space。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ADDFFD-053E-488C-99B6-E2025EF1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148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24FD65-4E4E-4F96-9578-027B6833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38650"/>
            <a:ext cx="39052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输出 LedgerLine: staff, note_index, bbox, side, line_number, score。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C4DC10-689D-44D5-B946-943C5290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E96159-CE2A-4F66-A431-2F00AE41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765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rPr>
              <a:t>示意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2A802F-55C5-4024-81E5-929EF236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337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C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3430CD-799A-4B9C-BC6E-AA7BABE6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433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C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5B0D39-6C2E-4A89-93E8-20076FAC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528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C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1F2993-4ADA-437B-8D51-675C23B3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9624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C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37B461-85AD-450B-B20B-411FAA55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1719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C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21DB8E-7FB5-438E-A967-735C21D7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781300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87F07C-C849-4152-AFEC-3DB2BF61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0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D46CE5-A79D-42BA-B635-65D91B4C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362200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8F3F5E-DF18-4189-8031-9A33796D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811C01-E76D-421F-9076-D7F30EF7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695450"/>
            <a:ext cx="285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13A7C9-6E9E-443D-A642-73FB3D3A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8577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line_number = 1,2,3 ...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ECDF2F-3501-456D-A5C1-2E954489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3400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1"/>
          </a:solidFill>
          <a:ln xmlns:a="http://schemas.openxmlformats.org/drawingml/2006/main" w="9525">
            <a:solidFill>
              <a:srgbClr val="CAD8D0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96FF58-FADE-4AA5-B866-E86F6A0C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5782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v18 结果：ledger_lines = 288。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26F892-F47D-4C46-9C84-FF05F1CF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629078-302A-4CFC-B87F-CF24778D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rPr>
              <a:t>输入样例: lg-2267728-aug-beethoven--page-2.png | 输出: traditional_omr_demo_lg2267728_v18</a:t>
            </a:r>
          </a:p>
        </p:txBody>
      </p:sp>
    </p:spTree>
    <p:extLst>
      <p:ext uri="{BB962C8B-B14F-4D97-AF65-F5344CB8AC3E}">
        <p14:creationId xmlns:p14="http://schemas.microsoft.com/office/powerpoint/2010/main" val="17555005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967733-45E6-4B5B-A493-0AA04CF5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009818-72A9-427C-8561-0FDB8A5C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D1136-5703-46A7-BF2E-4CEC251A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Traditional OMR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DEB65-4681-48E7-A217-606D29CE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143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B422FD-464D-44F0-9F08-0B94A622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rPr>
              <a:t>漏检问题：固定网格不够，必须补候选。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91506-082E-4799-A9C2-B36918F4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v15 的权重图让漏检点变得清楚：很多符头没有进入候选集合。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F46A5E-2F17-41AF-9C55-5F625C69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解决方法：固定 x 网格 + 音高带黑色投影质心。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54844b9bdd48fe"/>
          <a:stretch xmlns:a="http://schemas.openxmlformats.org/drawingml/2006/main"/>
        </p:blipFill>
        <p:spPr>
          <a:xfrm xmlns:a="http://schemas.openxmlformats.org/drawingml/2006/main">
            <a:off x="514350" y="2695941"/>
            <a:ext cx="6858000" cy="1266092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7EFCA-7C52-4046-A287-99A4D64A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628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v18 符头权重图：橙色 surround，红色 filled，青色 open，紫色 inner/core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93A5D2-D2A1-4FF7-9459-07044C39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1455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6DB9D3-E144-404C-A5D9-144644BD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241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rPr>
              <a:t>候选补全规则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926C3E-E714-4F80-9F91-1D6B3EF6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194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9B2602-8A21-44B5-B6EF-D2257A49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432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每个 pitch_step 仍然按 step_x = space / 4 扫描。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4F2E6A-1D99-45EF-83AA-1EA565CD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813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1DF52F-8E05-44B2-87E1-422AE611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0515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同时取 cy ± 0.72 * space 的水平带。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18D6CB-B212-4CD0-94CA-69584167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433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8F50E6-DB3C-4B40-A3F2-86C647F0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671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对该带黑色像素做 x 投影，找连续 run。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6E4B8B-9874-49A6-BA07-22230336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052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3996FD-0B46-43CF-91DC-99D3CF5F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2905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run 宽度需要在 0.26 * space 到 3.2 * space。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028C83-6098-4CCC-9306-A48A0198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672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C708FF-A793-429E-8814-05C3FEA1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910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以投影加权质心补充候选中心，并做 NMS。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003B90-DED7-425C-92BA-4B511BB3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33950"/>
            <a:ext cx="2838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E8"/>
          </a:solidFill>
          <a:ln xmlns:a="http://schemas.openxmlformats.org/drawingml/2006/main" w="9525">
            <a:solidFill>
              <a:srgbClr val="E6C7A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6E6922-829D-480F-9C08-AC02FA19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673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v16 过宽导致 759 个符头；v17 收紧后回到 457 个。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A80DA1-8FBA-40A0-857C-FB77A460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0D6FFF-2CDF-492B-A323-5792C36E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rPr>
              <a:t>输入样例: lg-2267728-aug-beethoven--page-2.png | 输出: traditional_omr_demo_lg2267728_v18</a:t>
            </a:r>
          </a:p>
        </p:txBody>
      </p:sp>
    </p:spTree>
    <p:extLst>
      <p:ext uri="{BB962C8B-B14F-4D97-AF65-F5344CB8AC3E}">
        <p14:creationId xmlns:p14="http://schemas.microsoft.com/office/powerpoint/2010/main" val="138375040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307FE6-25BC-40A2-A903-1EDC4347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55FB5-B602-4440-B4B6-C0409BBD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2BA23-EBDE-4E48-9EFA-1ADF8E72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Traditional OMR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0EEE8B-CF5E-4113-A769-961E1100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143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9C8DD-420F-476B-A028-9529DAAF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rPr>
              <a:t>实心被判空心：根因是 staff-line removal 误伤中心。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F83D5-FF28-4C75-A950-3ABD8CDA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去谱线图用于候选检测很好，但不能单独用于 filled/open 分类。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2DE537-A85E-49E3-A5A5-41C72B33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v18 的修正是同时看 cleaned mask 和 raw binary mask。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5fcd1077a647fb"/>
          <a:stretch xmlns:a="http://schemas.openxmlformats.org/drawingml/2006/main"/>
        </p:blipFill>
        <p:spPr>
          <a:xfrm xmlns:a="http://schemas.openxmlformats.org/drawingml/2006/main">
            <a:off x="514350" y="2171269"/>
            <a:ext cx="11049000" cy="253451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C24676-A93B-43E5-9CD1-FAA387C4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495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23FAD0-55E5-473F-8CD3-06DC064B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rPr>
              <a:t>诊断数据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4A7A94-B14B-4F60-B425-8CB67625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24500"/>
            <a:ext cx="441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v17 open 候选：cleaned core 约 0.00-0.14，但 raw core 通常为 1.00。说明符头中心不是空，而是被擦谱线挖掉。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D6B937-8E60-4CDA-A177-E2601EF4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05400"/>
            <a:ext cx="495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1"/>
          </a:solidFill>
          <a:ln xmlns:a="http://schemas.openxmlformats.org/drawingml/2006/main" w="9525">
            <a:solidFill>
              <a:srgbClr val="CAD8D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C50EFE-52B5-4B6D-8E14-C73CDD79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2578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rPr>
              <a:t>v18 复核规则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195CE5-B254-4721-9107-7F4B8547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816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A3203A-FE6A-421E-9C76-F7CAFC0E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05450"/>
            <a:ext cx="413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raw_core &gt;= 0.68, raw_inner &gt;= 0.58, raw_outer &gt;= 0.62。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53942F-9931-41A7-8678-B1220FE1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7721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9BB79D-E3BE-4513-A929-0E589452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95950"/>
            <a:ext cx="413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且 raw 与 cleaned 的 core/inner 差值 &gt;= 0.42，则判为擦线误伤。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337823-9A25-492D-916A-0C5546CC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2A7CDB-B765-4DAB-A9C5-DE9AFBDD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rPr>
              <a:t>输入样例: lg-2267728-aug-beethoven--page-2.png | 输出: traditional_omr_demo_lg2267728_v18</a:t>
            </a:r>
          </a:p>
        </p:txBody>
      </p:sp>
    </p:spTree>
    <p:extLst>
      <p:ext uri="{BB962C8B-B14F-4D97-AF65-F5344CB8AC3E}">
        <p14:creationId xmlns:p14="http://schemas.microsoft.com/office/powerpoint/2010/main" val="53606004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52585C-6FC0-4DE5-AA79-4C9F2BEB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9C7D31-F896-46DA-843B-F5943BF1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0ABA2-12F4-4A5B-895C-0469EA81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Traditional OMR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0B5B34-5E7D-4FEC-9774-51EEA4E4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143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B6C69-CAC5-4795-A73D-D1C8C0B7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rPr>
              <a:t>当前 v18 结果：符号层已经可解释输出。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96DA8-4B3F-4273-8235-91D79C6A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JSON、叠加图、重构图和 PDF 都来自同一套 detection_result。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C08F55-3CE5-4AED-939A-8FB2EBF3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这页用于给他们展示最终例子的识别效果。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18fd10e7cc4335"/>
          <a:stretch xmlns:a="http://schemas.openxmlformats.org/drawingml/2006/main"/>
        </p:blipFill>
        <p:spPr>
          <a:xfrm xmlns:a="http://schemas.openxmlformats.org/drawingml/2006/main">
            <a:off x="1061303" y="2019300"/>
            <a:ext cx="2639894" cy="37338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19f02e6704492c"/>
          <a:stretch xmlns:a="http://schemas.openxmlformats.org/drawingml/2006/main"/>
        </p:blipFill>
        <p:spPr>
          <a:xfrm xmlns:a="http://schemas.openxmlformats.org/drawingml/2006/main">
            <a:off x="4909403" y="2019300"/>
            <a:ext cx="2639894" cy="3733800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547ee1f63a448a"/>
          <a:stretch xmlns:a="http://schemas.openxmlformats.org/drawingml/2006/main"/>
        </p:blipFill>
        <p:spPr>
          <a:xfrm xmlns:a="http://schemas.openxmlformats.org/drawingml/2006/main">
            <a:off x="8462228" y="2019300"/>
            <a:ext cx="2639894" cy="37338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EE9C68-147D-4B61-BE24-815D605F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rPr>
              <a:t>overlay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51FFA0-6980-47C0-A218-7CC9E10D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907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rPr>
              <a:t>notehead weights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279ABE-DDB7-4882-8F0B-F937AFBA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rPr>
              <a:t>reconstructed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C56E9E-D72C-4B23-B37F-B11F26D3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171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D1496C-1FAD-4295-9C70-36997ABD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6137A2-B536-48D2-A22D-4955982F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447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201D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16201D"/>
                </a:solidFill>
                <a:latin typeface="Consolas"/>
                <a:ea typeface="Consolas"/>
                <a:cs typeface="Consolas"/>
              </a:rPr>
              <a:t>457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850044-A8E8-4810-9DC6-A0849CE8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447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noteheads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843476-72F9-461C-9513-C874985C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447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rPr>
              <a:t>filled 415 / open 42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8BCE46-E7CD-4A42-9FBC-FE163BBD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905500"/>
            <a:ext cx="171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86D2C7-F6F4-495D-A15B-C078E76C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9055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4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4059B2-65AE-48EC-A10D-30174E73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000750"/>
            <a:ext cx="1447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201D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16201D"/>
                </a:solidFill>
                <a:latin typeface="Consolas"/>
                <a:ea typeface="Consolas"/>
                <a:cs typeface="Consolas"/>
              </a:rPr>
              <a:t>357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5531DD-534E-4D6C-B100-47827305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305550"/>
            <a:ext cx="1447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stems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63F57A-CDFC-438B-A237-006E0F28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438900"/>
            <a:ext cx="1447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rPr>
              <a:t>vertical run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0AD0D0-DF37-4505-A955-D20C77E5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05500"/>
            <a:ext cx="171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6E9CC1-16B7-44E7-BB54-1D7B3BA1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055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AFBF61-69E8-4B02-B904-B1EAAE67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000750"/>
            <a:ext cx="1447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201D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16201D"/>
                </a:solidFill>
                <a:latin typeface="Consolas"/>
                <a:ea typeface="Consolas"/>
                <a:cs typeface="Consolas"/>
              </a:rPr>
              <a:t>288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317769-2013-405F-A6B6-05FE8D45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305550"/>
            <a:ext cx="1447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ledger lines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129317-63AA-41B8-A3D2-BC62986B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438900"/>
            <a:ext cx="1447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rPr>
              <a:t>outside-staff support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9E71D5-42A7-4CFA-B100-D83B2D2A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905500"/>
            <a:ext cx="171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71D575-9118-480F-B444-78FF4DE1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9055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93A965-4E08-46AB-8ECD-AD9C1F53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000750"/>
            <a:ext cx="1447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201D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16201D"/>
                </a:solidFill>
                <a:latin typeface="Consolas"/>
                <a:ea typeface="Consolas"/>
                <a:cs typeface="Consolas"/>
              </a:rPr>
              <a:t>68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4F3E16-20C1-446F-8C6B-3917C6CC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305550"/>
            <a:ext cx="1447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beam groups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4A3E1E-5AC3-4C5C-AEE7-28250C0D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438900"/>
            <a:ext cx="1447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rPr>
              <a:t>slope groups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060757-DBE5-47A7-BAA7-66FDB532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905500"/>
            <a:ext cx="171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89655A-1532-430B-842C-8EBCD748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9055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96A61D-463D-4065-A84B-EE150842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000750"/>
            <a:ext cx="1447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201D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16201D"/>
                </a:solidFill>
                <a:latin typeface="Consolas"/>
                <a:ea typeface="Consolas"/>
                <a:cs typeface="Consolas"/>
              </a:rPr>
              <a:t>46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3D70B9-7FAA-45D9-AE08-4E11EA4A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305550"/>
            <a:ext cx="1447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barlines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8E2367-C03B-45AB-A39D-6E82354A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438900"/>
            <a:ext cx="1447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rPr>
              <a:t>vertical long runs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FA6C77-6C4B-4611-B699-E930FAEE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905500"/>
            <a:ext cx="171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CCFA1D-1D84-4705-9A3C-30824339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9055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69CB9D-966B-47A9-AE62-946EE18E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00750"/>
            <a:ext cx="1447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201D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16201D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8DF381-FA33-48EE-ABF2-70D25FD5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05550"/>
            <a:ext cx="1447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text regions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26AD9F2-F550-429E-9A8B-4D10842F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438900"/>
            <a:ext cx="1447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rPr>
              <a:t>To Coda / 8va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527C513-E2CD-4164-AE15-09CD8CFE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24650"/>
            <a:ext cx="1009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rPr>
              <a:t>output: D:\PyCharmPojects\Staff\outputs\traditional_omr_demo_lg2267728_v18</a:t>
            </a:r>
          </a:p>
        </p:txBody>
      </p:sp>
    </p:spTree>
    <p:extLst>
      <p:ext uri="{BB962C8B-B14F-4D97-AF65-F5344CB8AC3E}">
        <p14:creationId xmlns:p14="http://schemas.microsoft.com/office/powerpoint/2010/main" val="137261804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03C0DE-17BF-4840-80C0-81DAAB99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AFEA9-045B-437E-9AEB-05302219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18B5F-CBE1-4BB8-ACE1-845CFCB5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Traditional OMR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35E851-26F8-4BB9-B8BA-44DEE890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143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6FE26-8B6B-4B42-A1A2-046E00BE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rPr>
              <a:t>结论：传统方法可解释，但需要持续把误差变成结构约束。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C69D62-A5A8-49AB-85DB-A0973F1A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当前 demo 已经能完整展示从图像到 JSON 再到重构图的链路。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20320E-F73C-4E8E-82AA-7DE1A644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5F"/>
                </a:solidFill>
                <a:latin typeface="Microsoft YaHei"/>
                <a:ea typeface="Microsoft YaHei"/>
                <a:cs typeface="Microsoft YaHei"/>
              </a:rPr>
              <a:t>下一步如果要从 demo 走向可用 OMR，需要把规则工程化并引入评测集。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051671-6DB6-4141-B92B-2AB2DF5F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3238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991AAD-20B7-447A-BB48-8B1FA03B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193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6B4D"/>
                </a:solidFill>
                <a:latin typeface="Microsoft YaHei"/>
                <a:ea typeface="Microsoft YaHei"/>
                <a:cs typeface="Microsoft YaHei"/>
              </a:rPr>
              <a:t>已经解决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81493C-5EE6-4108-BD41-B3BC9594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77B134-DDEA-4236-A8AA-E6A6F56C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575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staff 定位和 staff space 估计。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5DF9D-F6D4-4435-9F5B-49530954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57340E-BC2A-46D1-B82F-3C4A941C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194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barline、clef、ledger line 可视化输出。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C46BE9-A0B3-46C9-975A-3FF9935D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576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D75DB-8F7F-40B8-9B1A-79E9C9C3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814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beam link -&gt; beam group 分组。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F68A01-7045-4A15-BEB2-58528750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EDC9AD-FDF8-4718-926D-DEC14FF2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433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accidental/text 先屏蔽，避免误入符头。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A023A7-1DEA-4AFB-99C3-61764720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C408FD-8420-4059-BF04-5B41E06C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053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raw mask 复核 filled/open。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371FD8-0A2D-4B62-A61C-66BC7C32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9304D8-59B3-461E-A90B-51F505AB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193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8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88922"/>
                </a:solidFill>
                <a:latin typeface="Microsoft YaHei"/>
                <a:ea typeface="Microsoft YaHei"/>
                <a:cs typeface="Microsoft YaHei"/>
              </a:rPr>
              <a:t>仍有限制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816A0A-48CE-4EC2-A669-E098A99A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337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92343B-46E4-4676-A7C4-4357CD2F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575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谱号类型当前仍有顺序推断成分。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607DCF-BBE8-43A7-85B4-B5699EBE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956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413A9D-2EA8-46BD-901F-43F2263C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94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文字识别是模板级，不是完整 OCR。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69AFE8-BCE7-4ADD-9699-E0400BF7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576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CAEE8F-BB37-4818-925A-AF2746FC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5814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重叠和密集和弦还需要更强的组件拆分。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9C4ECA-1A1F-44B9-8B89-64034A49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195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382192-09F5-402C-BDBE-897CA6D8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9433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休止符、装饰音、力度记号规则还不完整。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54BAB0-7706-4CE9-ADAD-D542579D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815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674196-68EB-4E52-8A01-CC2B6462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053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缺少标注数据上的 precision/recall 评估。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4DFB6E-7E1C-48AE-8E4A-7DF1EBF1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3238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9"/>
          </a:solidFill>
          <a:ln xmlns:a="http://schemas.openxmlformats.org/drawingml/2006/main" w="9525">
            <a:solidFill>
              <a:srgbClr val="D9DFD9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439978-4D86-4B08-AFE2-1EB951E8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193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5E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85E8E"/>
                </a:solidFill>
                <a:latin typeface="Microsoft YaHei"/>
                <a:ea typeface="Microsoft YaHei"/>
                <a:cs typeface="Microsoft YaHei"/>
              </a:rPr>
              <a:t>建议下一步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003944-6C69-4B4B-8075-330F54C4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337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BB50A2-89F1-4837-9F4F-E68F2CF5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575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把每类符号输出成标准标签和 bbox。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C2B259-81A0-4405-BC72-A05A05EF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956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29129A-A7D7-44AB-944E-CEC819A8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194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为 Hugging Face polish-scores 建小评测子集。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9D9122-078A-4123-BAEE-EB4A9B2B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576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606D64-DE8C-4BFC-859E-A716087A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814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每轮参数调整记录 confusion cases。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78CB03-71D9-4447-95FD-B5197EA9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195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A0A7DDA-D095-4963-8090-3F4B356C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433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逐步加入 OCR / 模板库 / 小模型做辅助。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FDA43A-2A48-455D-AB27-5BACB68D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815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72E58C1-68BF-44F3-AD17-6F8DDDB4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053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最终输出 MusicXML 或中间可编辑格式。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1C8BB3-E060-4FE5-8BE4-4F55730E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38800"/>
            <a:ext cx="1085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C"/>
          </a:solidFill>
          <a:ln xmlns:a="http://schemas.openxmlformats.org/drawingml/2006/main" w="9525">
            <a:solidFill>
              <a:srgbClr val="CAD8D0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F24BC63-219F-45BA-A3DD-D8FE8A6A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91200"/>
            <a:ext cx="1028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6201D"/>
                </a:solidFill>
                <a:latin typeface="Microsoft YaHei"/>
                <a:ea typeface="Microsoft YaHei"/>
                <a:cs typeface="Microsoft YaHei"/>
              </a:rPr>
              <a:t>汇报重点：这不是一次性调参，而是一个可复现的排错链条：图像假设 -&gt; 规则实现 -&gt; 可视化暴露错误 -&gt; 规则归因 -&gt; 再验证。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074D56F-04DB-4916-8691-F00E88B5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FB7134-7D1C-47F3-AC38-889E1C23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7C8780"/>
                </a:solidFill>
                <a:latin typeface="Microsoft YaHei"/>
                <a:ea typeface="Microsoft YaHei"/>
                <a:cs typeface="Microsoft YaHei"/>
              </a:rPr>
              <a:t>最终 PPT 同目录下保留 artifact preview；v18 结果目录可直接现场打开演示。</a:t>
            </a:r>
          </a:p>
        </p:txBody>
      </p:sp>
    </p:spTree>
    <p:extLst>
      <p:ext uri="{BB962C8B-B14F-4D97-AF65-F5344CB8AC3E}">
        <p14:creationId xmlns:p14="http://schemas.microsoft.com/office/powerpoint/2010/main" val="15205253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2026-05-29T11:08:56.1270000Z</dcterms:created>
  <dcterms:modified xsi:type="dcterms:W3CDTF">2026-05-29T11:08:56.1270000Z</dcterms:modified>
</coreProperties>
</file>